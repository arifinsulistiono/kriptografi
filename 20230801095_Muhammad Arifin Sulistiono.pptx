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ina" charset="1" panose="02000503000000000000"/>
      <p:regular r:id="rId16"/>
    </p:embeddedFont>
    <p:embeddedFont>
      <p:font typeface="Mina Bold" charset="1" panose="02000803000000000000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720294" y="-212216"/>
            <a:ext cx="10205074" cy="10711432"/>
          </a:xfrm>
          <a:custGeom>
            <a:avLst/>
            <a:gdLst/>
            <a:ahLst/>
            <a:cxnLst/>
            <a:rect r="r" b="b" t="t" l="l"/>
            <a:pathLst>
              <a:path h="10711432" w="10205074">
                <a:moveTo>
                  <a:pt x="0" y="0"/>
                </a:moveTo>
                <a:lnTo>
                  <a:pt x="10205073" y="0"/>
                </a:lnTo>
                <a:lnTo>
                  <a:pt x="10205073" y="10711432"/>
                </a:lnTo>
                <a:lnTo>
                  <a:pt x="0" y="10711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3689" y="1977808"/>
            <a:ext cx="10814971" cy="481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7"/>
              </a:lnSpc>
            </a:pPr>
            <a:r>
              <a:rPr lang="en-US" sz="2791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Meninjau Relevansi Cipher Klasik di Era Kriptografi Modern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3689" y="600624"/>
            <a:ext cx="11758730" cy="1198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2"/>
              </a:lnSpc>
            </a:pPr>
            <a:r>
              <a:rPr lang="en-US" sz="3459" b="true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Analisis Cipher Substitusi &amp; Transposisi dalam Perspektif Keamanan, Performa, dan Komparatif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10638" y="5033432"/>
            <a:ext cx="10409656" cy="1815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7461" indent="-283730" lvl="1">
              <a:lnSpc>
                <a:spcPts val="3679"/>
              </a:lnSpc>
              <a:buFont typeface="Arial"/>
              <a:buChar char="•"/>
            </a:pPr>
            <a:r>
              <a:rPr lang="en-US" sz="26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Disusun oleh: Muhammad Arifin Sulistiono(20230801095)</a:t>
            </a:r>
          </a:p>
          <a:p>
            <a:pPr algn="just" marL="567461" indent="-283730" lvl="1">
              <a:lnSpc>
                <a:spcPts val="3679"/>
              </a:lnSpc>
              <a:buFont typeface="Arial"/>
              <a:buChar char="•"/>
            </a:pPr>
            <a:r>
              <a:rPr lang="en-US" sz="26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Mata Kuliah: Kriptografi</a:t>
            </a:r>
          </a:p>
          <a:p>
            <a:pPr algn="just" marL="567461" indent="-283730" lvl="1">
              <a:lnSpc>
                <a:spcPts val="3679"/>
              </a:lnSpc>
              <a:buFont typeface="Arial"/>
              <a:buChar char="•"/>
            </a:pPr>
            <a:r>
              <a:rPr lang="en-US" sz="26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Dosen Pengampu: JEFRY SUNUPURWA ASRI , S.Kom., M.Kom.</a:t>
            </a:r>
          </a:p>
          <a:p>
            <a:pPr algn="just">
              <a:lnSpc>
                <a:spcPts val="3679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4978712" y="896403"/>
            <a:ext cx="2280588" cy="673130"/>
            <a:chOff x="0" y="0"/>
            <a:chExt cx="505529" cy="14921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05529" cy="149210"/>
            </a:xfrm>
            <a:custGeom>
              <a:avLst/>
              <a:gdLst/>
              <a:ahLst/>
              <a:cxnLst/>
              <a:rect r="r" b="b" t="t" l="l"/>
              <a:pathLst>
                <a:path h="149210" w="505529">
                  <a:moveTo>
                    <a:pt x="74605" y="0"/>
                  </a:moveTo>
                  <a:lnTo>
                    <a:pt x="430924" y="0"/>
                  </a:lnTo>
                  <a:cubicBezTo>
                    <a:pt x="472127" y="0"/>
                    <a:pt x="505529" y="33402"/>
                    <a:pt x="505529" y="74605"/>
                  </a:cubicBezTo>
                  <a:lnTo>
                    <a:pt x="505529" y="74605"/>
                  </a:lnTo>
                  <a:cubicBezTo>
                    <a:pt x="505529" y="115808"/>
                    <a:pt x="472127" y="149210"/>
                    <a:pt x="430924" y="149210"/>
                  </a:cubicBezTo>
                  <a:lnTo>
                    <a:pt x="74605" y="149210"/>
                  </a:lnTo>
                  <a:cubicBezTo>
                    <a:pt x="33402" y="149210"/>
                    <a:pt x="0" y="115808"/>
                    <a:pt x="0" y="74605"/>
                  </a:cubicBezTo>
                  <a:lnTo>
                    <a:pt x="0" y="74605"/>
                  </a:lnTo>
                  <a:cubicBezTo>
                    <a:pt x="0" y="33402"/>
                    <a:pt x="33402" y="0"/>
                    <a:pt x="74605" y="0"/>
                  </a:cubicBezTo>
                  <a:close/>
                </a:path>
              </a:pathLst>
            </a:custGeom>
            <a:solidFill>
              <a:srgbClr val="FFFFFF">
                <a:alpha val="31765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505529" cy="1873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6648506" y="989966"/>
            <a:ext cx="482922" cy="486004"/>
            <a:chOff x="0" y="0"/>
            <a:chExt cx="107047" cy="10773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047" cy="107731"/>
            </a:xfrm>
            <a:custGeom>
              <a:avLst/>
              <a:gdLst/>
              <a:ahLst/>
              <a:cxnLst/>
              <a:rect r="r" b="b" t="t" l="l"/>
              <a:pathLst>
                <a:path h="107731" w="107047">
                  <a:moveTo>
                    <a:pt x="53524" y="0"/>
                  </a:moveTo>
                  <a:lnTo>
                    <a:pt x="53524" y="0"/>
                  </a:lnTo>
                  <a:cubicBezTo>
                    <a:pt x="67719" y="0"/>
                    <a:pt x="81333" y="5639"/>
                    <a:pt x="91371" y="15677"/>
                  </a:cubicBezTo>
                  <a:cubicBezTo>
                    <a:pt x="101408" y="25714"/>
                    <a:pt x="107047" y="39328"/>
                    <a:pt x="107047" y="53524"/>
                  </a:cubicBezTo>
                  <a:lnTo>
                    <a:pt x="107047" y="54207"/>
                  </a:lnTo>
                  <a:cubicBezTo>
                    <a:pt x="107047" y="68402"/>
                    <a:pt x="101408" y="82016"/>
                    <a:pt x="91371" y="92054"/>
                  </a:cubicBezTo>
                  <a:cubicBezTo>
                    <a:pt x="81333" y="102091"/>
                    <a:pt x="67719" y="107731"/>
                    <a:pt x="53524" y="107731"/>
                  </a:cubicBezTo>
                  <a:lnTo>
                    <a:pt x="53524" y="107731"/>
                  </a:lnTo>
                  <a:cubicBezTo>
                    <a:pt x="39328" y="107731"/>
                    <a:pt x="25714" y="102091"/>
                    <a:pt x="15677" y="92054"/>
                  </a:cubicBezTo>
                  <a:cubicBezTo>
                    <a:pt x="5639" y="82016"/>
                    <a:pt x="0" y="68402"/>
                    <a:pt x="0" y="54207"/>
                  </a:cubicBezTo>
                  <a:lnTo>
                    <a:pt x="0" y="53524"/>
                  </a:lnTo>
                  <a:cubicBezTo>
                    <a:pt x="0" y="39328"/>
                    <a:pt x="5639" y="25714"/>
                    <a:pt x="15677" y="15677"/>
                  </a:cubicBezTo>
                  <a:cubicBezTo>
                    <a:pt x="25714" y="5639"/>
                    <a:pt x="39328" y="0"/>
                    <a:pt x="5352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7047" cy="1458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785314" y="1118079"/>
            <a:ext cx="209307" cy="229778"/>
          </a:xfrm>
          <a:custGeom>
            <a:avLst/>
            <a:gdLst/>
            <a:ahLst/>
            <a:cxnLst/>
            <a:rect r="r" b="b" t="t" l="l"/>
            <a:pathLst>
              <a:path h="229778" w="209307">
                <a:moveTo>
                  <a:pt x="0" y="0"/>
                </a:moveTo>
                <a:lnTo>
                  <a:pt x="209307" y="0"/>
                </a:lnTo>
                <a:lnTo>
                  <a:pt x="209307" y="229778"/>
                </a:lnTo>
                <a:lnTo>
                  <a:pt x="0" y="229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402683" y="1015962"/>
            <a:ext cx="1245823" cy="406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0"/>
              </a:lnSpc>
              <a:spcBef>
                <a:spcPct val="0"/>
              </a:spcBef>
            </a:pPr>
            <a:r>
              <a:rPr lang="en-US" sz="2357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Search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872694" y="-59816"/>
            <a:ext cx="10205074" cy="10711432"/>
          </a:xfrm>
          <a:custGeom>
            <a:avLst/>
            <a:gdLst/>
            <a:ahLst/>
            <a:cxnLst/>
            <a:rect r="r" b="b" t="t" l="l"/>
            <a:pathLst>
              <a:path h="10711432" w="10205074">
                <a:moveTo>
                  <a:pt x="0" y="0"/>
                </a:moveTo>
                <a:lnTo>
                  <a:pt x="10205073" y="0"/>
                </a:lnTo>
                <a:lnTo>
                  <a:pt x="10205073" y="10711432"/>
                </a:lnTo>
                <a:lnTo>
                  <a:pt x="0" y="10711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C3BFF">
                <a:alpha val="100000"/>
              </a:srgbClr>
            </a:gs>
            <a:gs pos="100000">
              <a:srgbClr val="B664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94213" y="-1425495"/>
            <a:ext cx="11733829" cy="11712495"/>
          </a:xfrm>
          <a:custGeom>
            <a:avLst/>
            <a:gdLst/>
            <a:ahLst/>
            <a:cxnLst/>
            <a:rect r="r" b="b" t="t" l="l"/>
            <a:pathLst>
              <a:path h="11712495" w="11733829">
                <a:moveTo>
                  <a:pt x="0" y="0"/>
                </a:moveTo>
                <a:lnTo>
                  <a:pt x="11733829" y="0"/>
                </a:lnTo>
                <a:lnTo>
                  <a:pt x="11733829" y="11712495"/>
                </a:lnTo>
                <a:lnTo>
                  <a:pt x="0" y="11712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785314" y="1118079"/>
            <a:ext cx="209307" cy="229778"/>
          </a:xfrm>
          <a:custGeom>
            <a:avLst/>
            <a:gdLst/>
            <a:ahLst/>
            <a:cxnLst/>
            <a:rect r="r" b="b" t="t" l="l"/>
            <a:pathLst>
              <a:path h="229778" w="209307">
                <a:moveTo>
                  <a:pt x="0" y="0"/>
                </a:moveTo>
                <a:lnTo>
                  <a:pt x="209307" y="0"/>
                </a:lnTo>
                <a:lnTo>
                  <a:pt x="209307" y="229778"/>
                </a:lnTo>
                <a:lnTo>
                  <a:pt x="0" y="229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2941" y="539060"/>
            <a:ext cx="12369613" cy="2423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42"/>
              </a:lnSpc>
            </a:pPr>
            <a:r>
              <a:rPr lang="en-US" sz="6959" b="true">
                <a:solidFill>
                  <a:srgbClr val="FFFFFF"/>
                </a:solidFill>
                <a:latin typeface="Mina Bold"/>
                <a:ea typeface="Mina Bold"/>
                <a:cs typeface="Mina Bold"/>
                <a:sym typeface="Mina Bold"/>
              </a:rPr>
              <a:t>Latar Belakang Masalah &amp; fokus ide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04590" y="3154077"/>
            <a:ext cx="8367138" cy="1841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54"/>
              </a:lnSpc>
            </a:pPr>
            <a:r>
              <a:rPr lang="en-US" sz="21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Masalah utama:</a:t>
            </a:r>
          </a:p>
          <a:p>
            <a:pPr algn="just">
              <a:lnSpc>
                <a:spcPts val="2954"/>
              </a:lnSpc>
            </a:pPr>
            <a:r>
              <a:rPr lang="en-US" sz="21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Cipher klasik (Substitusi &amp; Transposisi) dianggap lemah terhadap serangan modern.</a:t>
            </a:r>
          </a:p>
          <a:p>
            <a:pPr algn="just">
              <a:lnSpc>
                <a:spcPts val="2954"/>
              </a:lnSpc>
            </a:pPr>
            <a:r>
              <a:rPr lang="en-US" sz="21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Namun, masih relevan untuk edukasi dan sistem berkeamanan rendah.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62941" y="5186441"/>
            <a:ext cx="11089283" cy="2989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74"/>
              </a:lnSpc>
            </a:pPr>
            <a:r>
              <a:rPr lang="en-US" sz="19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Mengapa penting?</a:t>
            </a:r>
          </a:p>
          <a:p>
            <a:pPr algn="just" marL="412509" indent="-206254" lvl="1">
              <a:lnSpc>
                <a:spcPts val="2674"/>
              </a:lnSpc>
              <a:buFont typeface="Arial"/>
              <a:buChar char="•"/>
            </a:pPr>
            <a:r>
              <a:rPr lang="en-US" sz="19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Keamanan informasi menjadi kebutuhan utama di era digital.</a:t>
            </a:r>
          </a:p>
          <a:p>
            <a:pPr algn="just" marL="412509" indent="-206254" lvl="1">
              <a:lnSpc>
                <a:spcPts val="2674"/>
              </a:lnSpc>
              <a:buFont typeface="Arial"/>
              <a:buChar char="•"/>
            </a:pPr>
            <a:r>
              <a:rPr lang="en-US" sz="19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Cipher klasik seperti Substitusi dan Transposisi adalah dasar dari seluruh sistem enkripsi modern.</a:t>
            </a:r>
          </a:p>
          <a:p>
            <a:pPr algn="just" marL="412509" indent="-206254" lvl="1">
              <a:lnSpc>
                <a:spcPts val="2674"/>
              </a:lnSpc>
              <a:buFont typeface="Arial"/>
              <a:buChar char="•"/>
            </a:pPr>
            <a:r>
              <a:rPr lang="en-US" sz="19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Meski sederhana, keduanya tetap menarik untuk:</a:t>
            </a:r>
          </a:p>
          <a:p>
            <a:pPr algn="just" marL="412509" indent="-206254" lvl="1">
              <a:lnSpc>
                <a:spcPts val="2674"/>
              </a:lnSpc>
              <a:buFont typeface="Arial"/>
              <a:buChar char="•"/>
            </a:pPr>
            <a:r>
              <a:rPr lang="en-US" sz="19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🔹 Riset edukatif</a:t>
            </a:r>
          </a:p>
          <a:p>
            <a:pPr algn="just" marL="412509" indent="-206254" lvl="1">
              <a:lnSpc>
                <a:spcPts val="2674"/>
              </a:lnSpc>
              <a:buFont typeface="Arial"/>
              <a:buChar char="•"/>
            </a:pPr>
            <a:r>
              <a:rPr lang="en-US" sz="19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🔹 Studi keamanan rendah (low-security)</a:t>
            </a:r>
          </a:p>
          <a:p>
            <a:pPr algn="just" marL="412509" indent="-206254" lvl="1">
              <a:lnSpc>
                <a:spcPts val="2674"/>
              </a:lnSpc>
              <a:buFont typeface="Arial"/>
              <a:buChar char="•"/>
            </a:pPr>
            <a:r>
              <a:rPr lang="en-US" sz="19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🔹 Eksperimen hybrid encryption</a:t>
            </a:r>
          </a:p>
          <a:p>
            <a:pPr algn="just">
              <a:lnSpc>
                <a:spcPts val="2674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62941" y="8138286"/>
            <a:ext cx="11089283" cy="1656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74"/>
              </a:lnSpc>
            </a:pPr>
            <a:r>
              <a:rPr lang="en-US" sz="19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Fokus penelitian:</a:t>
            </a:r>
          </a:p>
          <a:p>
            <a:pPr algn="just" marL="412509" indent="-206254" lvl="1">
              <a:lnSpc>
                <a:spcPts val="2674"/>
              </a:lnSpc>
              <a:buAutoNum type="arabicPeriod" startAt="1"/>
            </a:pPr>
            <a:r>
              <a:rPr lang="en-US" sz="19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Menganalisis tingkat keamanan terhadap cryptanalysis modern.</a:t>
            </a:r>
          </a:p>
          <a:p>
            <a:pPr algn="just" marL="412509" indent="-206254" lvl="1">
              <a:lnSpc>
                <a:spcPts val="2674"/>
              </a:lnSpc>
              <a:buAutoNum type="arabicPeriod" startAt="1"/>
            </a:pPr>
            <a:r>
              <a:rPr lang="en-US" sz="19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Mengevaluasi performa dan efisiensi komputasi.</a:t>
            </a:r>
          </a:p>
          <a:p>
            <a:pPr algn="just" marL="412509" indent="-206254" lvl="1">
              <a:lnSpc>
                <a:spcPts val="2674"/>
              </a:lnSpc>
              <a:buAutoNum type="arabicPeriod" startAt="1"/>
            </a:pPr>
            <a:r>
              <a:rPr lang="en-US" sz="19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Membandingkan relevansi cipher klasik dengan algoritma modern (AES, ChaCha20).</a:t>
            </a:r>
          </a:p>
          <a:p>
            <a:pPr algn="just">
              <a:lnSpc>
                <a:spcPts val="2674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E0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14350" y="7478714"/>
            <a:ext cx="9983660" cy="3351211"/>
            <a:chOff x="0" y="0"/>
            <a:chExt cx="2629441" cy="8826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29441" cy="882624"/>
            </a:xfrm>
            <a:custGeom>
              <a:avLst/>
              <a:gdLst/>
              <a:ahLst/>
              <a:cxnLst/>
              <a:rect r="r" b="b" t="t" l="l"/>
              <a:pathLst>
                <a:path h="882624" w="2629441">
                  <a:moveTo>
                    <a:pt x="43426" y="0"/>
                  </a:moveTo>
                  <a:lnTo>
                    <a:pt x="2586016" y="0"/>
                  </a:lnTo>
                  <a:cubicBezTo>
                    <a:pt x="2597533" y="0"/>
                    <a:pt x="2608578" y="4575"/>
                    <a:pt x="2616722" y="12719"/>
                  </a:cubicBezTo>
                  <a:cubicBezTo>
                    <a:pt x="2624866" y="20863"/>
                    <a:pt x="2629441" y="31908"/>
                    <a:pt x="2629441" y="43426"/>
                  </a:cubicBezTo>
                  <a:lnTo>
                    <a:pt x="2629441" y="839198"/>
                  </a:lnTo>
                  <a:cubicBezTo>
                    <a:pt x="2629441" y="850715"/>
                    <a:pt x="2624866" y="861761"/>
                    <a:pt x="2616722" y="869904"/>
                  </a:cubicBezTo>
                  <a:cubicBezTo>
                    <a:pt x="2608578" y="878048"/>
                    <a:pt x="2597533" y="882624"/>
                    <a:pt x="2586016" y="882624"/>
                  </a:cubicBezTo>
                  <a:lnTo>
                    <a:pt x="43426" y="882624"/>
                  </a:lnTo>
                  <a:cubicBezTo>
                    <a:pt x="19442" y="882624"/>
                    <a:pt x="0" y="863181"/>
                    <a:pt x="0" y="839198"/>
                  </a:cubicBezTo>
                  <a:lnTo>
                    <a:pt x="0" y="43426"/>
                  </a:lnTo>
                  <a:cubicBezTo>
                    <a:pt x="0" y="31908"/>
                    <a:pt x="4575" y="20863"/>
                    <a:pt x="12719" y="12719"/>
                  </a:cubicBezTo>
                  <a:cubicBezTo>
                    <a:pt x="20863" y="4575"/>
                    <a:pt x="31908" y="0"/>
                    <a:pt x="43426" y="0"/>
                  </a:cubicBezTo>
                  <a:close/>
                </a:path>
              </a:pathLst>
            </a:custGeom>
            <a:solidFill>
              <a:srgbClr val="6647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29441" cy="9207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77377" y="645405"/>
            <a:ext cx="12719443" cy="1060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29"/>
              </a:lnSpc>
            </a:pPr>
            <a:r>
              <a:rPr lang="en-US" sz="6235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Tujuan &amp; Rumusan Masalah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15218" y="1952962"/>
            <a:ext cx="8037898" cy="790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34"/>
              </a:lnSpc>
            </a:pPr>
            <a:r>
              <a:rPr lang="en-US" sz="28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Tujuan utama penelitian:</a:t>
            </a:r>
          </a:p>
          <a:p>
            <a:pPr algn="just" marL="606814" indent="-303407" lvl="1">
              <a:lnSpc>
                <a:spcPts val="3934"/>
              </a:lnSpc>
              <a:buAutoNum type="arabicPeriod" startAt="1"/>
            </a:pPr>
            <a:r>
              <a:rPr lang="en-US" sz="28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Menganalisis tingkat keamanan cipher klasik terhadap serangan modern.</a:t>
            </a:r>
          </a:p>
          <a:p>
            <a:pPr algn="just" marL="606814" indent="-303407" lvl="1">
              <a:lnSpc>
                <a:spcPts val="3934"/>
              </a:lnSpc>
              <a:buAutoNum type="arabicPeriod" startAt="1"/>
            </a:pPr>
            <a:r>
              <a:rPr lang="en-US" sz="28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Mengevaluasi performa dan efisiensi komputasi.</a:t>
            </a:r>
          </a:p>
          <a:p>
            <a:pPr algn="just" marL="606814" indent="-303407" lvl="1">
              <a:lnSpc>
                <a:spcPts val="3934"/>
              </a:lnSpc>
              <a:buAutoNum type="arabicPeriod" startAt="1"/>
            </a:pPr>
            <a:r>
              <a:rPr lang="en-US" sz="28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Membandingkan cipher klasik dengan algoritma modern seperti AES dan ChaCha20.</a:t>
            </a:r>
          </a:p>
          <a:p>
            <a:pPr algn="just">
              <a:lnSpc>
                <a:spcPts val="3934"/>
              </a:lnSpc>
            </a:pPr>
          </a:p>
          <a:p>
            <a:pPr algn="just">
              <a:lnSpc>
                <a:spcPts val="3934"/>
              </a:lnSpc>
            </a:pPr>
            <a:r>
              <a:rPr lang="en-US" sz="28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Pertanyaan kunci:</a:t>
            </a:r>
          </a:p>
          <a:p>
            <a:pPr algn="just" marL="606814" indent="-303407" lvl="1">
              <a:lnSpc>
                <a:spcPts val="3934"/>
              </a:lnSpc>
              <a:buFont typeface="Arial"/>
              <a:buChar char="•"/>
            </a:pPr>
            <a:r>
              <a:rPr lang="en-US" sz="28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Apakah cipher klasik masih relevan saat ini?</a:t>
            </a:r>
          </a:p>
          <a:p>
            <a:pPr algn="just" marL="606814" indent="-303407" lvl="1">
              <a:lnSpc>
                <a:spcPts val="3934"/>
              </a:lnSpc>
              <a:buFont typeface="Arial"/>
              <a:buChar char="•"/>
            </a:pPr>
            <a:r>
              <a:rPr lang="en-US" sz="28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Bisakah dikombinasikan agar lebih aman?</a:t>
            </a:r>
          </a:p>
          <a:p>
            <a:pPr algn="just" marL="606814" indent="-303407" lvl="1">
              <a:lnSpc>
                <a:spcPts val="3934"/>
              </a:lnSpc>
              <a:buFont typeface="Arial"/>
              <a:buChar char="•"/>
            </a:pPr>
            <a:r>
              <a:rPr lang="en-US" sz="28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Dalam kondisi apa performanya masih unggul?</a:t>
            </a:r>
          </a:p>
          <a:p>
            <a:pPr algn="just">
              <a:lnSpc>
                <a:spcPts val="3934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5C3BFF">
                <a:alpha val="100000"/>
              </a:srgbClr>
            </a:gs>
            <a:gs pos="100000">
              <a:srgbClr val="B664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8100000">
            <a:off x="9362433" y="501356"/>
            <a:ext cx="9364319" cy="10563953"/>
            <a:chOff x="0" y="0"/>
            <a:chExt cx="2466323" cy="27822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66323" cy="2782276"/>
            </a:xfrm>
            <a:custGeom>
              <a:avLst/>
              <a:gdLst/>
              <a:ahLst/>
              <a:cxnLst/>
              <a:rect r="r" b="b" t="t" l="l"/>
              <a:pathLst>
                <a:path h="2782276" w="2466323">
                  <a:moveTo>
                    <a:pt x="46298" y="0"/>
                  </a:moveTo>
                  <a:lnTo>
                    <a:pt x="2420025" y="0"/>
                  </a:lnTo>
                  <a:cubicBezTo>
                    <a:pt x="2432304" y="0"/>
                    <a:pt x="2444080" y="4878"/>
                    <a:pt x="2452762" y="13560"/>
                  </a:cubicBezTo>
                  <a:cubicBezTo>
                    <a:pt x="2461445" y="22243"/>
                    <a:pt x="2466323" y="34019"/>
                    <a:pt x="2466323" y="46298"/>
                  </a:cubicBezTo>
                  <a:lnTo>
                    <a:pt x="2466323" y="2735978"/>
                  </a:lnTo>
                  <a:cubicBezTo>
                    <a:pt x="2466323" y="2761547"/>
                    <a:pt x="2445595" y="2782276"/>
                    <a:pt x="2420025" y="2782276"/>
                  </a:cubicBezTo>
                  <a:lnTo>
                    <a:pt x="46298" y="2782276"/>
                  </a:lnTo>
                  <a:cubicBezTo>
                    <a:pt x="20728" y="2782276"/>
                    <a:pt x="0" y="2761547"/>
                    <a:pt x="0" y="2735978"/>
                  </a:cubicBezTo>
                  <a:lnTo>
                    <a:pt x="0" y="46298"/>
                  </a:lnTo>
                  <a:cubicBezTo>
                    <a:pt x="0" y="20728"/>
                    <a:pt x="20728" y="0"/>
                    <a:pt x="4629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C3BFF">
                    <a:alpha val="100000"/>
                  </a:srgbClr>
                </a:gs>
                <a:gs pos="100000">
                  <a:srgbClr val="B664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466323" cy="28203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309069" y="904875"/>
            <a:ext cx="9669863" cy="1061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4"/>
              </a:lnSpc>
            </a:pPr>
            <a:r>
              <a:rPr lang="en-US" sz="621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Sudut Pandang Keamanan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6398" y="2217641"/>
            <a:ext cx="10820631" cy="43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14"/>
              </a:lnSpc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Tujuan: Menilai kekuatan cipher klasik menghadapi serangan modern.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6398" y="2915870"/>
            <a:ext cx="11254717" cy="7101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74"/>
              </a:lnSpc>
            </a:pPr>
            <a:r>
              <a:rPr lang="en-US" sz="24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Fokus utama:</a:t>
            </a:r>
          </a:p>
          <a:p>
            <a:pPr algn="just" marL="520456" indent="-260228" lvl="1">
              <a:lnSpc>
                <a:spcPts val="3374"/>
              </a:lnSpc>
              <a:buFont typeface="Arial"/>
              <a:buChar char="•"/>
            </a:pPr>
            <a:r>
              <a:rPr lang="en-US" sz="24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</a:t>
            </a:r>
            <a:r>
              <a:rPr lang="en-US" sz="24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tahanan terhadap:</a:t>
            </a:r>
          </a:p>
          <a:p>
            <a:pPr algn="just" marL="1040912" indent="-346971" lvl="2">
              <a:lnSpc>
                <a:spcPts val="3374"/>
              </a:lnSpc>
              <a:buFont typeface="Arial"/>
              <a:buChar char="⚬"/>
            </a:pPr>
            <a:r>
              <a:rPr lang="en-US" sz="24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Frequency Analysis</a:t>
            </a:r>
          </a:p>
          <a:p>
            <a:pPr algn="just" marL="1040912" indent="-346971" lvl="2">
              <a:lnSpc>
                <a:spcPts val="3374"/>
              </a:lnSpc>
              <a:buFont typeface="Arial"/>
              <a:buChar char="⚬"/>
            </a:pPr>
            <a:r>
              <a:rPr lang="en-US" sz="24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Brute Force Attack</a:t>
            </a:r>
          </a:p>
          <a:p>
            <a:pPr algn="just" marL="1040912" indent="-346971" lvl="2">
              <a:lnSpc>
                <a:spcPts val="3374"/>
              </a:lnSpc>
              <a:buFont typeface="Arial"/>
              <a:buChar char="⚬"/>
            </a:pPr>
            <a:r>
              <a:rPr lang="en-US" sz="24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Known/Chosen Plaintext Attack</a:t>
            </a:r>
          </a:p>
          <a:p>
            <a:pPr algn="just" marL="520456" indent="-260228" lvl="1">
              <a:lnSpc>
                <a:spcPts val="3374"/>
              </a:lnSpc>
              <a:buFont typeface="Arial"/>
              <a:buChar char="•"/>
            </a:pPr>
            <a:r>
              <a:rPr lang="en-US" sz="24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Evaluasi terhadap kombinasi Substitusi + Transposisi (Hybrid Cipher).</a:t>
            </a:r>
          </a:p>
          <a:p>
            <a:pPr algn="just">
              <a:lnSpc>
                <a:spcPts val="3374"/>
              </a:lnSpc>
            </a:pPr>
          </a:p>
          <a:p>
            <a:pPr algn="just">
              <a:lnSpc>
                <a:spcPts val="3374"/>
              </a:lnSpc>
            </a:pPr>
            <a:r>
              <a:rPr lang="en-US" sz="24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Metodologi:</a:t>
            </a:r>
          </a:p>
          <a:p>
            <a:pPr algn="just" marL="520456" indent="-260228" lvl="1">
              <a:lnSpc>
                <a:spcPts val="3374"/>
              </a:lnSpc>
              <a:buFont typeface="Arial"/>
              <a:buChar char="•"/>
            </a:pPr>
            <a:r>
              <a:rPr lang="en-US" sz="24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Theoretical cryptanalysis</a:t>
            </a:r>
          </a:p>
          <a:p>
            <a:pPr algn="just" marL="520456" indent="-260228" lvl="1">
              <a:lnSpc>
                <a:spcPts val="3374"/>
              </a:lnSpc>
              <a:buFont typeface="Arial"/>
              <a:buChar char="•"/>
            </a:pPr>
            <a:r>
              <a:rPr lang="en-US" sz="24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Simulated attacks menggunakan CrypTool/Python</a:t>
            </a:r>
          </a:p>
          <a:p>
            <a:pPr algn="just" marL="520456" indent="-260228" lvl="1">
              <a:lnSpc>
                <a:spcPts val="3374"/>
              </a:lnSpc>
              <a:buFont typeface="Arial"/>
              <a:buChar char="•"/>
            </a:pPr>
            <a:r>
              <a:rPr lang="en-US" sz="24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Formal verification kelemahan matematis</a:t>
            </a:r>
          </a:p>
          <a:p>
            <a:pPr algn="just">
              <a:lnSpc>
                <a:spcPts val="3374"/>
              </a:lnSpc>
            </a:pPr>
          </a:p>
          <a:p>
            <a:pPr algn="just">
              <a:lnSpc>
                <a:spcPts val="3374"/>
              </a:lnSpc>
            </a:pPr>
            <a:r>
              <a:rPr lang="en-US" sz="24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Hasil yang diharapkan:</a:t>
            </a:r>
          </a:p>
          <a:p>
            <a:pPr algn="just" marL="520456" indent="-260228" lvl="1">
              <a:lnSpc>
                <a:spcPts val="3374"/>
              </a:lnSpc>
              <a:buFont typeface="Arial"/>
              <a:buChar char="•"/>
            </a:pPr>
            <a:r>
              <a:rPr lang="en-US" sz="24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Peta kerentanan</a:t>
            </a:r>
          </a:p>
          <a:p>
            <a:pPr algn="just" marL="520456" indent="-260228" lvl="1">
              <a:lnSpc>
                <a:spcPts val="3374"/>
              </a:lnSpc>
              <a:buFont typeface="Arial"/>
              <a:buChar char="•"/>
            </a:pPr>
            <a:r>
              <a:rPr lang="en-US" sz="24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Model ancaman (threat model)</a:t>
            </a:r>
          </a:p>
          <a:p>
            <a:pPr algn="just" marL="520456" indent="-260228" lvl="1">
              <a:lnSpc>
                <a:spcPts val="3374"/>
              </a:lnSpc>
              <a:buFont typeface="Arial"/>
              <a:buChar char="•"/>
            </a:pPr>
            <a:r>
              <a:rPr lang="en-US" sz="24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Framework evaluasi keamanan</a:t>
            </a:r>
          </a:p>
          <a:p>
            <a:pPr algn="just">
              <a:lnSpc>
                <a:spcPts val="3374"/>
              </a:lnSpc>
            </a:pPr>
          </a:p>
        </p:txBody>
      </p:sp>
    </p:spTree>
  </p:cSld>
  <p:clrMapOvr>
    <a:masterClrMapping/>
  </p:clrMapOvr>
  <p:transition spd="slow">
    <p:cover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526801"/>
            <a:ext cx="10690191" cy="82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7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Sudut Pandang Performa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10800000">
            <a:off x="8781568" y="5722890"/>
            <a:ext cx="10205074" cy="10711432"/>
          </a:xfrm>
          <a:custGeom>
            <a:avLst/>
            <a:gdLst/>
            <a:ahLst/>
            <a:cxnLst/>
            <a:rect r="r" b="b" t="t" l="l"/>
            <a:pathLst>
              <a:path h="10711432" w="10205074">
                <a:moveTo>
                  <a:pt x="0" y="0"/>
                </a:moveTo>
                <a:lnTo>
                  <a:pt x="10205073" y="0"/>
                </a:lnTo>
                <a:lnTo>
                  <a:pt x="10205073" y="10711432"/>
                </a:lnTo>
                <a:lnTo>
                  <a:pt x="0" y="107114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906675"/>
            <a:ext cx="8115300" cy="788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14"/>
              </a:lnSpc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Fokus penelitian:</a:t>
            </a:r>
          </a:p>
          <a:p>
            <a:pPr algn="just" marL="542046" indent="-271023" lvl="1">
              <a:lnSpc>
                <a:spcPts val="351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Kecepatan enkripsi/dekripsi</a:t>
            </a:r>
          </a:p>
          <a:p>
            <a:pPr algn="just" marL="542046" indent="-271023" lvl="1">
              <a:lnSpc>
                <a:spcPts val="351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Kompleksitas waktu &amp; memori</a:t>
            </a:r>
          </a:p>
          <a:p>
            <a:pPr algn="just" marL="542046" indent="-271023" lvl="1">
              <a:lnSpc>
                <a:spcPts val="351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Efisiensi daya (energy consumption)</a:t>
            </a:r>
          </a:p>
          <a:p>
            <a:pPr algn="just" marL="542046" indent="-271023" lvl="1">
              <a:lnSpc>
                <a:spcPts val="351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Kinerja pada perangkat terbatas (IoT, embedded systems)</a:t>
            </a:r>
          </a:p>
          <a:p>
            <a:pPr algn="just">
              <a:lnSpc>
                <a:spcPts val="3514"/>
              </a:lnSpc>
            </a:pPr>
          </a:p>
          <a:p>
            <a:pPr algn="just">
              <a:lnSpc>
                <a:spcPts val="3514"/>
              </a:lnSpc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Metode:</a:t>
            </a:r>
          </a:p>
          <a:p>
            <a:pPr algn="just" marL="542046" indent="-271023" lvl="1">
              <a:lnSpc>
                <a:spcPts val="351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Benchmarking vs AES, RSA, ChaCha20</a:t>
            </a:r>
          </a:p>
          <a:p>
            <a:pPr algn="just" marL="542046" indent="-271023" lvl="1">
              <a:lnSpc>
                <a:spcPts val="351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Profiling &amp; Stress testing</a:t>
            </a:r>
          </a:p>
          <a:p>
            <a:pPr algn="just" marL="542046" indent="-271023" lvl="1">
              <a:lnSpc>
                <a:spcPts val="351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Simulasi pada hardware ringan (Arduino, Raspberry Pi)</a:t>
            </a:r>
          </a:p>
          <a:p>
            <a:pPr algn="just">
              <a:lnSpc>
                <a:spcPts val="3514"/>
              </a:lnSpc>
            </a:pPr>
          </a:p>
          <a:p>
            <a:pPr algn="just">
              <a:lnSpc>
                <a:spcPts val="3514"/>
              </a:lnSpc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Metrik pengukuran:</a:t>
            </a:r>
          </a:p>
          <a:p>
            <a:pPr algn="just" marL="542046" indent="-271023" lvl="1">
              <a:lnSpc>
                <a:spcPts val="351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Waktu proses (ms/MB)</a:t>
            </a:r>
          </a:p>
          <a:p>
            <a:pPr algn="just" marL="542046" indent="-271023" lvl="1">
              <a:lnSpc>
                <a:spcPts val="351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CPU &amp; memory usage</a:t>
            </a:r>
          </a:p>
          <a:p>
            <a:pPr algn="just" marL="542046" indent="-271023" lvl="1">
              <a:lnSpc>
                <a:spcPts val="351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Throughput dan efisiensi energi</a:t>
            </a:r>
          </a:p>
          <a:p>
            <a:pPr algn="just">
              <a:lnSpc>
                <a:spcPts val="3514"/>
              </a:lnSpc>
            </a:pPr>
          </a:p>
        </p:txBody>
      </p:sp>
    </p:spTree>
  </p:cSld>
  <p:clrMapOvr>
    <a:masterClrMapping/>
  </p:clrMapOvr>
  <p:transition spd="fast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C3BFF">
                <a:alpha val="100000"/>
              </a:srgbClr>
            </a:gs>
            <a:gs pos="100000">
              <a:srgbClr val="B664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883540">
            <a:off x="4050353" y="-4719716"/>
            <a:ext cx="9671506" cy="20080965"/>
            <a:chOff x="0" y="0"/>
            <a:chExt cx="2547228" cy="52888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7228" cy="5288814"/>
            </a:xfrm>
            <a:custGeom>
              <a:avLst/>
              <a:gdLst/>
              <a:ahLst/>
              <a:cxnLst/>
              <a:rect r="r" b="b" t="t" l="l"/>
              <a:pathLst>
                <a:path h="5288814" w="2547228">
                  <a:moveTo>
                    <a:pt x="44827" y="0"/>
                  </a:moveTo>
                  <a:lnTo>
                    <a:pt x="2502401" y="0"/>
                  </a:lnTo>
                  <a:cubicBezTo>
                    <a:pt x="2527158" y="0"/>
                    <a:pt x="2547228" y="20070"/>
                    <a:pt x="2547228" y="44827"/>
                  </a:cubicBezTo>
                  <a:lnTo>
                    <a:pt x="2547228" y="5243987"/>
                  </a:lnTo>
                  <a:cubicBezTo>
                    <a:pt x="2547228" y="5255875"/>
                    <a:pt x="2542505" y="5267277"/>
                    <a:pt x="2534098" y="5275684"/>
                  </a:cubicBezTo>
                  <a:cubicBezTo>
                    <a:pt x="2525692" y="5284091"/>
                    <a:pt x="2514290" y="5288814"/>
                    <a:pt x="2502401" y="5288814"/>
                  </a:cubicBezTo>
                  <a:lnTo>
                    <a:pt x="44827" y="5288814"/>
                  </a:lnTo>
                  <a:cubicBezTo>
                    <a:pt x="32938" y="5288814"/>
                    <a:pt x="21536" y="5284091"/>
                    <a:pt x="13130" y="5275684"/>
                  </a:cubicBezTo>
                  <a:cubicBezTo>
                    <a:pt x="4723" y="5267277"/>
                    <a:pt x="0" y="5255875"/>
                    <a:pt x="0" y="5243987"/>
                  </a:cubicBezTo>
                  <a:lnTo>
                    <a:pt x="0" y="44827"/>
                  </a:lnTo>
                  <a:cubicBezTo>
                    <a:pt x="0" y="20070"/>
                    <a:pt x="20070" y="0"/>
                    <a:pt x="4482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C3BFF">
                    <a:alpha val="100000"/>
                  </a:srgbClr>
                </a:gs>
                <a:gs pos="100000">
                  <a:srgbClr val="B664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7228" cy="53269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030301" y="1555769"/>
            <a:ext cx="9711612" cy="7175462"/>
          </a:xfrm>
          <a:custGeom>
            <a:avLst/>
            <a:gdLst/>
            <a:ahLst/>
            <a:cxnLst/>
            <a:rect r="r" b="b" t="t" l="l"/>
            <a:pathLst>
              <a:path h="7175462" w="9711612">
                <a:moveTo>
                  <a:pt x="0" y="0"/>
                </a:moveTo>
                <a:lnTo>
                  <a:pt x="9711612" y="0"/>
                </a:lnTo>
                <a:lnTo>
                  <a:pt x="9711612" y="7175462"/>
                </a:lnTo>
                <a:lnTo>
                  <a:pt x="0" y="71754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12" r="0" b="-31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913890" y="243138"/>
            <a:ext cx="10460219" cy="1119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55"/>
              </a:lnSpc>
            </a:pPr>
            <a:r>
              <a:rPr lang="en-US" sz="653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Sudut Pandang Komparatif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E0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89903" y="-933236"/>
            <a:ext cx="7454036" cy="8267945"/>
            <a:chOff x="0" y="0"/>
            <a:chExt cx="1963203" cy="21775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63203" cy="2177566"/>
            </a:xfrm>
            <a:custGeom>
              <a:avLst/>
              <a:gdLst/>
              <a:ahLst/>
              <a:cxnLst/>
              <a:rect r="r" b="b" t="t" l="l"/>
              <a:pathLst>
                <a:path h="2177566" w="1963203">
                  <a:moveTo>
                    <a:pt x="58163" y="0"/>
                  </a:moveTo>
                  <a:lnTo>
                    <a:pt x="1905040" y="0"/>
                  </a:lnTo>
                  <a:cubicBezTo>
                    <a:pt x="1937163" y="0"/>
                    <a:pt x="1963203" y="26040"/>
                    <a:pt x="1963203" y="58163"/>
                  </a:cubicBezTo>
                  <a:lnTo>
                    <a:pt x="1963203" y="2119403"/>
                  </a:lnTo>
                  <a:cubicBezTo>
                    <a:pt x="1963203" y="2134829"/>
                    <a:pt x="1957075" y="2149623"/>
                    <a:pt x="1946168" y="2160530"/>
                  </a:cubicBezTo>
                  <a:cubicBezTo>
                    <a:pt x="1935260" y="2171438"/>
                    <a:pt x="1920466" y="2177566"/>
                    <a:pt x="1905040" y="2177566"/>
                  </a:cubicBezTo>
                  <a:lnTo>
                    <a:pt x="58163" y="2177566"/>
                  </a:lnTo>
                  <a:cubicBezTo>
                    <a:pt x="26040" y="2177566"/>
                    <a:pt x="0" y="2151525"/>
                    <a:pt x="0" y="2119403"/>
                  </a:cubicBezTo>
                  <a:lnTo>
                    <a:pt x="0" y="58163"/>
                  </a:lnTo>
                  <a:cubicBezTo>
                    <a:pt x="0" y="26040"/>
                    <a:pt x="26040" y="0"/>
                    <a:pt x="58163" y="0"/>
                  </a:cubicBezTo>
                  <a:close/>
                </a:path>
              </a:pathLst>
            </a:custGeom>
            <a:solidFill>
              <a:srgbClr val="6647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63203" cy="2215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59429" y="639832"/>
            <a:ext cx="7106023" cy="896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Metodologi Penelitian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59429" y="1991010"/>
            <a:ext cx="9737931" cy="5689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14"/>
              </a:lnSpc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Pendekatan yang digunakan:</a:t>
            </a:r>
          </a:p>
          <a:p>
            <a:pPr algn="just" marL="542046" indent="-271023" lvl="1">
              <a:lnSpc>
                <a:spcPts val="3514"/>
              </a:lnSpc>
              <a:buAutoNum type="arabicPeriod" startAt="1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Analisis Teoritis:</a:t>
            </a:r>
          </a:p>
          <a:p>
            <a:pPr algn="just" marL="542046" indent="-271023" lvl="1">
              <a:lnSpc>
                <a:spcPts val="3514"/>
              </a:lnSpc>
              <a:buAutoNum type="arabicPeriod" startAt="1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Evaluasi konsep dasar &amp; kelemahan matematis.</a:t>
            </a:r>
          </a:p>
          <a:p>
            <a:pPr algn="just" marL="542046" indent="-271023" lvl="1">
              <a:lnSpc>
                <a:spcPts val="3514"/>
              </a:lnSpc>
              <a:buAutoNum type="arabicPeriod" startAt="1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Eksperimen Simulasi:</a:t>
            </a:r>
          </a:p>
          <a:p>
            <a:pPr algn="just" marL="542046" indent="-271023" lvl="1">
              <a:lnSpc>
                <a:spcPts val="3514"/>
              </a:lnSpc>
              <a:buAutoNum type="arabicPeriod" startAt="1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Menggunakan CrypTool atau Python untuk mensimulasikan serangan.</a:t>
            </a:r>
          </a:p>
          <a:p>
            <a:pPr algn="just" marL="542046" indent="-271023" lvl="1">
              <a:lnSpc>
                <a:spcPts val="3514"/>
              </a:lnSpc>
              <a:buAutoNum type="arabicPeriod" startAt="1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Analisis Komparatif:</a:t>
            </a:r>
          </a:p>
          <a:p>
            <a:pPr algn="just" marL="542046" indent="-271023" lvl="1">
              <a:lnSpc>
                <a:spcPts val="3514"/>
              </a:lnSpc>
              <a:buAutoNum type="arabicPeriod" startAt="1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Membandingkan cipher klasik vs modern dalam hal performa dan ketahanan.</a:t>
            </a:r>
          </a:p>
          <a:p>
            <a:pPr algn="just" marL="542046" indent="-271023" lvl="1">
              <a:lnSpc>
                <a:spcPts val="3514"/>
              </a:lnSpc>
              <a:buAutoNum type="arabicPeriod" startAt="1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Case Study Historis:</a:t>
            </a:r>
          </a:p>
          <a:p>
            <a:pPr algn="just" marL="542046" indent="-271023" lvl="1">
              <a:lnSpc>
                <a:spcPts val="3514"/>
              </a:lnSpc>
              <a:buAutoNum type="arabicPeriod" startAt="1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Contoh: Caesar Cipher dan Rail Fence pada era Perang Dunia II.</a:t>
            </a:r>
          </a:p>
          <a:p>
            <a:pPr algn="just">
              <a:lnSpc>
                <a:spcPts val="3514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5C3BFF">
                <a:alpha val="100000"/>
              </a:srgbClr>
            </a:gs>
            <a:gs pos="100000">
              <a:srgbClr val="B664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943314">
            <a:off x="2430003" y="-2487707"/>
            <a:ext cx="11182453" cy="19010499"/>
            <a:chOff x="0" y="0"/>
            <a:chExt cx="2945173" cy="50068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945173" cy="5006880"/>
            </a:xfrm>
            <a:custGeom>
              <a:avLst/>
              <a:gdLst/>
              <a:ahLst/>
              <a:cxnLst/>
              <a:rect r="r" b="b" t="t" l="l"/>
              <a:pathLst>
                <a:path h="5006880" w="2945173">
                  <a:moveTo>
                    <a:pt x="38770" y="0"/>
                  </a:moveTo>
                  <a:lnTo>
                    <a:pt x="2906402" y="0"/>
                  </a:lnTo>
                  <a:cubicBezTo>
                    <a:pt x="2927815" y="0"/>
                    <a:pt x="2945173" y="17358"/>
                    <a:pt x="2945173" y="38770"/>
                  </a:cubicBezTo>
                  <a:lnTo>
                    <a:pt x="2945173" y="4968110"/>
                  </a:lnTo>
                  <a:cubicBezTo>
                    <a:pt x="2945173" y="4989522"/>
                    <a:pt x="2927815" y="5006880"/>
                    <a:pt x="2906402" y="5006880"/>
                  </a:cubicBezTo>
                  <a:lnTo>
                    <a:pt x="38770" y="5006880"/>
                  </a:lnTo>
                  <a:cubicBezTo>
                    <a:pt x="17358" y="5006880"/>
                    <a:pt x="0" y="4989522"/>
                    <a:pt x="0" y="4968110"/>
                  </a:cubicBezTo>
                  <a:lnTo>
                    <a:pt x="0" y="38770"/>
                  </a:lnTo>
                  <a:cubicBezTo>
                    <a:pt x="0" y="17358"/>
                    <a:pt x="17358" y="0"/>
                    <a:pt x="387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C3BFF">
                    <a:alpha val="100000"/>
                  </a:srgbClr>
                </a:gs>
                <a:gs pos="100000">
                  <a:srgbClr val="B664F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945173" cy="5044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67706" y="578753"/>
            <a:ext cx="11952587" cy="2370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7"/>
              </a:lnSpc>
            </a:pPr>
            <a:r>
              <a:rPr lang="en-US" sz="6805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Hasil &amp; Kontribusi yang Diharapkan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869497"/>
            <a:ext cx="15417543" cy="383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8"/>
              </a:lnSpc>
            </a:pPr>
            <a:r>
              <a:rPr lang="en-US" sz="31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Kontribusi penelitian:</a:t>
            </a:r>
          </a:p>
          <a:p>
            <a:pPr algn="ctr" marL="679888" indent="-339944" lvl="1">
              <a:lnSpc>
                <a:spcPts val="4408"/>
              </a:lnSpc>
              <a:buFont typeface="Arial"/>
              <a:buChar char="•"/>
            </a:pPr>
            <a:r>
              <a:rPr lang="en-US" sz="31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Vulnerability Mapping untuk cipher klasik.</a:t>
            </a:r>
          </a:p>
          <a:p>
            <a:pPr algn="ctr" marL="679888" indent="-339944" lvl="1">
              <a:lnSpc>
                <a:spcPts val="4408"/>
              </a:lnSpc>
              <a:buFont typeface="Arial"/>
              <a:buChar char="•"/>
            </a:pPr>
            <a:r>
              <a:rPr lang="en-US" sz="31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Hybrid Cipher Design (Substitusi + Transposisi).</a:t>
            </a:r>
          </a:p>
          <a:p>
            <a:pPr algn="ctr" marL="679888" indent="-339944" lvl="1">
              <a:lnSpc>
                <a:spcPts val="4408"/>
              </a:lnSpc>
              <a:buFont typeface="Arial"/>
              <a:buChar char="•"/>
            </a:pPr>
            <a:r>
              <a:rPr lang="en-US" sz="31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Modul Edukasi pembelajaran kriptografi dasar.</a:t>
            </a:r>
          </a:p>
          <a:p>
            <a:pPr algn="ctr" marL="679888" indent="-339944" lvl="1">
              <a:lnSpc>
                <a:spcPts val="4408"/>
              </a:lnSpc>
              <a:buFont typeface="Arial"/>
              <a:buChar char="•"/>
            </a:pPr>
            <a:r>
              <a:rPr lang="en-US" sz="31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Database Benchmark untuk studi performa.</a:t>
            </a:r>
          </a:p>
          <a:p>
            <a:pPr algn="ctr" marL="679888" indent="-339944" lvl="1">
              <a:lnSpc>
                <a:spcPts val="4408"/>
              </a:lnSpc>
              <a:buFont typeface="Arial"/>
              <a:buChar char="•"/>
            </a:pPr>
            <a:r>
              <a:rPr lang="en-US" sz="314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Framework Pemilihan Cipher berbasis kebutuhan sistem.</a:t>
            </a:r>
          </a:p>
          <a:p>
            <a:pPr algn="ctr">
              <a:lnSpc>
                <a:spcPts val="4408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E0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11586" y="-4197855"/>
            <a:ext cx="7420564" cy="7788760"/>
          </a:xfrm>
          <a:custGeom>
            <a:avLst/>
            <a:gdLst/>
            <a:ahLst/>
            <a:cxnLst/>
            <a:rect r="r" b="b" t="t" l="l"/>
            <a:pathLst>
              <a:path h="7788760" w="7420564">
                <a:moveTo>
                  <a:pt x="0" y="0"/>
                </a:moveTo>
                <a:lnTo>
                  <a:pt x="7420565" y="0"/>
                </a:lnTo>
                <a:lnTo>
                  <a:pt x="7420565" y="7788760"/>
                </a:lnTo>
                <a:lnTo>
                  <a:pt x="0" y="77887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23642" y="230926"/>
            <a:ext cx="11319245" cy="2849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80"/>
              </a:lnSpc>
            </a:pPr>
            <a:r>
              <a:rPr lang="en-US" sz="8200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Kesimpulan &amp; Arah Penelitian Lanjut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23642" y="3285457"/>
            <a:ext cx="12423623" cy="5251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14"/>
              </a:lnSpc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Kesimpulan:</a:t>
            </a:r>
          </a:p>
          <a:p>
            <a:pPr algn="just" marL="542046" indent="-271023" lvl="1">
              <a:lnSpc>
                <a:spcPts val="351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Cip</a:t>
            </a: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her klasik memiliki nilai historis &amp; edukatif tinggi.</a:t>
            </a:r>
          </a:p>
          <a:p>
            <a:pPr algn="just" marL="542046" indent="-271023" lvl="1">
              <a:lnSpc>
                <a:spcPts val="351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Kombinasi Substitusi + Transposisi dapat menjadi basis hybrid cipher.</a:t>
            </a:r>
          </a:p>
          <a:p>
            <a:pPr algn="just" marL="542046" indent="-271023" lvl="1">
              <a:lnSpc>
                <a:spcPts val="351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Tidak cocok untuk aplikasi industri berisiko tinggi, namun ideal untuk riset dan pembelajaran.</a:t>
            </a:r>
          </a:p>
          <a:p>
            <a:pPr algn="just">
              <a:lnSpc>
                <a:spcPts val="3514"/>
              </a:lnSpc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Arah lanjutan:</a:t>
            </a:r>
          </a:p>
          <a:p>
            <a:pPr algn="just" marL="542046" indent="-271023" lvl="1">
              <a:lnSpc>
                <a:spcPts val="351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Mengintegrasikan hybrid cipher dengan algoritma modern (contoh: AES + Transposisi).</a:t>
            </a:r>
          </a:p>
          <a:p>
            <a:pPr algn="just" marL="542046" indent="-271023" lvl="1">
              <a:lnSpc>
                <a:spcPts val="351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Pengujian pada sistem IoT atau perangkat terbatas.</a:t>
            </a:r>
          </a:p>
          <a:p>
            <a:pPr algn="just" marL="542046" indent="-271023" lvl="1">
              <a:lnSpc>
                <a:spcPts val="3514"/>
              </a:lnSpc>
              <a:buFont typeface="Arial"/>
              <a:buChar char="•"/>
            </a:pPr>
            <a:r>
              <a:rPr lang="en-US" sz="251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Pembuatan framework lightweight encryption berbasis kombinasi klasik-modern.</a:t>
            </a:r>
          </a:p>
          <a:p>
            <a:pPr algn="just">
              <a:lnSpc>
                <a:spcPts val="3514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C3BFF">
                <a:alpha val="100000"/>
              </a:srgbClr>
            </a:gs>
            <a:gs pos="100000">
              <a:srgbClr val="B664FF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40288" y="0"/>
            <a:ext cx="10305738" cy="10287000"/>
          </a:xfrm>
          <a:custGeom>
            <a:avLst/>
            <a:gdLst/>
            <a:ahLst/>
            <a:cxnLst/>
            <a:rect r="r" b="b" t="t" l="l"/>
            <a:pathLst>
              <a:path h="10287000" w="10305738">
                <a:moveTo>
                  <a:pt x="0" y="0"/>
                </a:moveTo>
                <a:lnTo>
                  <a:pt x="10305738" y="0"/>
                </a:lnTo>
                <a:lnTo>
                  <a:pt x="103057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44000" y="0"/>
            <a:ext cx="10305738" cy="10287000"/>
          </a:xfrm>
          <a:custGeom>
            <a:avLst/>
            <a:gdLst/>
            <a:ahLst/>
            <a:cxnLst/>
            <a:rect r="r" b="b" t="t" l="l"/>
            <a:pathLst>
              <a:path h="10287000" w="10305738">
                <a:moveTo>
                  <a:pt x="0" y="0"/>
                </a:moveTo>
                <a:lnTo>
                  <a:pt x="10305738" y="0"/>
                </a:lnTo>
                <a:lnTo>
                  <a:pt x="1030573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80457" y="3321275"/>
            <a:ext cx="13327087" cy="2465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233"/>
              </a:lnSpc>
            </a:pPr>
            <a:r>
              <a:rPr lang="en-US" sz="14452">
                <a:solidFill>
                  <a:srgbClr val="FFFFFF"/>
                </a:solidFill>
                <a:latin typeface="Mina"/>
                <a:ea typeface="Mina"/>
                <a:cs typeface="Mina"/>
                <a:sym typeface="Mina"/>
              </a:rPr>
              <a:t>TERIMA KASIH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DAG35lO2xkw</dc:identifier>
  <dcterms:modified xsi:type="dcterms:W3CDTF">2011-08-01T06:04:30Z</dcterms:modified>
  <cp:revision>1</cp:revision>
  <dc:title>KRIPTOGRAFI</dc:title>
</cp:coreProperties>
</file>